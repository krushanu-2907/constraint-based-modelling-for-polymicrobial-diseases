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6" r:id="rId9"/>
    <p:sldId id="265" r:id="rId10"/>
    <p:sldId id="267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6654" autoAdjust="0"/>
  </p:normalViewPr>
  <p:slideViewPr>
    <p:cSldViewPr snapToGrid="0">
      <p:cViewPr varScale="1">
        <p:scale>
          <a:sx n="52" d="100"/>
          <a:sy n="52" d="100"/>
        </p:scale>
        <p:origin x="14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647B75-551C-4C56-B68B-FC1BE2359D6C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44B78-7FCE-46D0-9FC4-B546B2A04D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20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44B78-7FCE-46D0-9FC4-B546B2A04DF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628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Since enterocytes do not proliferate, production of biomass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precursors became insignificant. Instead, the capability of the model to perform specific metabolic tasks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such as fatty acid and carbohydrate metabolism, secretion of lactate from glucose uptake, among others, were</a:t>
            </a:r>
          </a:p>
          <a:p>
            <a:r>
              <a:rPr lang="en-GB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examined as a measure of the metabolic activity of enterocytes and to assess model quality</a:t>
            </a:r>
          </a:p>
          <a:p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ETEC toxins manipulate cellular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signaling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pathways, including cAMP and cGMP, leading to increased chloride (Cl⁻) efflux via the Cystic Fibrosis Transmembrane Conductance Regulator (CFTR) and inhibition of Na⁺ uptake through the NHE3 Na⁺/H⁺ ion exchanger.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44B78-7FCE-46D0-9FC4-B546B2A04DF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030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44B78-7FCE-46D0-9FC4-B546B2A04DF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569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7E039-2477-A46D-17C3-A6C2FB342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BF166D-C355-9CCB-17E8-80EA72DBD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5EBF7-B8A3-9496-3D4D-57175C408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9A932-6E65-4F57-86B4-8E67F957223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B9D0D-3479-DDE8-69DA-ADF47483D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10B3C-A561-41C1-4929-6190BDF19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75291-1866-4963-94B9-B8C88C616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142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F75D-6F3E-06B6-60E8-8300247E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25DF5-67B7-25D0-1F94-CB8FF7819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EB340-07DD-B2BE-4F22-A65D99EF7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9A932-6E65-4F57-86B4-8E67F957223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17325-8478-1864-6D7A-A3F94F022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03CD-E6F9-14E6-6036-6F395E334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75291-1866-4963-94B9-B8C88C616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00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0AEB-C168-6810-C665-4AC579BC6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91939-918E-C0AD-3D4C-FB313F5AD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A883C-069B-42BC-D04A-45AC982C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9A932-6E65-4F57-86B4-8E67F957223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45A60-031F-9E94-9291-9AAC1F6C5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1647D-8777-D61A-6CAC-C9BA3832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75291-1866-4963-94B9-B8C88C616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201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4E571-46ED-C087-368A-E22BF526A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E77DC-D267-5904-3027-45E493A13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45B85-F2F6-661E-047E-8D5B2C62B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4FFD6-0983-4D9E-2026-05B6ECDB9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9A932-6E65-4F57-86B4-8E67F957223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3DDA1-CF2D-6AFE-F97A-07410DC44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0A43E-7159-D188-693F-3AB469F4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75291-1866-4963-94B9-B8C88C616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902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0C24F-7814-3BE9-3511-0DE53B81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48F54-2FDA-6AD1-DCC4-E7143735E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E062E-A588-8700-8495-9D37C3467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ECDE4-F644-62E9-883A-845DBE888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5DA9DC-A382-FA7D-7B68-4400CC368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78CC9A-3B66-2D75-8799-000ACB599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9A932-6E65-4F57-86B4-8E67F957223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7BBA46-9144-0133-DFBF-CF5D8C3B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45AE35-632E-86CA-8252-7F50FE17C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75291-1866-4963-94B9-B8C88C616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916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1131C-28A1-2FB2-954F-46C3B42B5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D209A2-1F08-3ACF-756D-47BF2452F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9A932-6E65-4F57-86B4-8E67F957223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894705-5DFD-8259-5EC0-E7F0230C9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02694-FF7D-42BB-987B-573E9C13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75291-1866-4963-94B9-B8C88C616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391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D9D688-4F8C-7AFA-215C-E21C475E9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9A932-6E65-4F57-86B4-8E67F957223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50DE9B-109B-23B4-B553-8D202573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C32BA-8533-DFCD-03F3-FA60A9D71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75291-1866-4963-94B9-B8C88C616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015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BDB6D-C197-304B-D1D8-0D65A73AD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68CD5-B8D9-C060-5477-D7121B435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64BD4-1522-6447-BED6-6C583F9CC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67059-993E-19A6-60DF-D0F701F5C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9A932-6E65-4F57-86B4-8E67F957223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48CF3-5BD7-D55B-F253-C912E68D1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F11D3-D26F-450D-B670-373FA3706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75291-1866-4963-94B9-B8C88C616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80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D2D88-DCA8-6E64-7C93-F008715D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80845-51D8-DDE6-95D2-3D99412214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DD391-6499-E60C-5C81-FA20F543E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D8843-EAD3-3A59-EC24-6282EAC4C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9A932-6E65-4F57-86B4-8E67F957223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4CD27-C245-6721-5519-D40CCB230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37521-D38A-BD0A-2F09-A3D5FBDE9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75291-1866-4963-94B9-B8C88C616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56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AADB-8281-A6A2-D212-E1ED2F783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F0C0CB-4D38-FDB5-3160-6831378E5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6ACD-D4B1-0ACE-D1B9-B42FC508A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9A932-6E65-4F57-86B4-8E67F957223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8B029-17B8-B6B2-8919-22705CB53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813DF-9F39-BDBF-AF2A-CA66953C8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75291-1866-4963-94B9-B8C88C616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65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0C46A-80A9-CBF6-F5E3-E680D0107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539BA-4972-0C5F-2544-558FC84B2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B1C67-6878-D0F9-A5D7-CF934F44A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9A932-6E65-4F57-86B4-8E67F957223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7D79D-19DE-2E73-2171-772C9319C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EA572-3950-0C90-EFE6-2284806BE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75291-1866-4963-94B9-B8C88C616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770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0251C0-6077-29C2-36B4-198F8BE96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CF839-DEEB-5CB3-BA64-C4A374717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BFC49-F86D-D35B-40B5-D03EDD0A7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9A932-6E65-4F57-86B4-8E67F957223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8F053-E16F-9DF2-2D52-CF692B73AE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5F3E7-5F8B-361F-F1A8-26D1EAAF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75291-1866-4963-94B9-B8C88C616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519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812F8-D804-EE09-572E-36359D40C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23672"/>
            <a:ext cx="9388839" cy="2173575"/>
          </a:xfrm>
          <a:noFill/>
        </p:spPr>
        <p:txBody>
          <a:bodyPr>
            <a:normAutofit fontScale="90000"/>
          </a:bodyPr>
          <a:lstStyle/>
          <a:p>
            <a:br>
              <a:rPr lang="en-IN" sz="4900" dirty="0">
                <a:latin typeface="Candara" panose="020E0502030303020204" pitchFamily="34" charset="0"/>
                <a:cs typeface="Arial" panose="020B0604020202020204" pitchFamily="34" charset="0"/>
              </a:rPr>
            </a:br>
            <a:r>
              <a:rPr lang="en-IN" sz="4900" dirty="0">
                <a:latin typeface="Candara" panose="020E0502030303020204" pitchFamily="34" charset="0"/>
                <a:cs typeface="Arial" panose="020B0604020202020204" pitchFamily="34" charset="0"/>
              </a:rPr>
              <a:t>Constraint-based modelling for the study of Polymicrobial Infections</a:t>
            </a:r>
            <a:br>
              <a:rPr lang="en-IN" dirty="0">
                <a:latin typeface="Candara" panose="020E0502030303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41EFA-28E1-F238-30D1-01CE6B7BA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869662"/>
            <a:ext cx="9144000" cy="655169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Candara" panose="020E0502030303020204" pitchFamily="34" charset="0"/>
              </a:rPr>
              <a:t>Krushanu Patki (BE23B007)</a:t>
            </a:r>
            <a:endParaRPr lang="en-IN" sz="32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078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778EC-F5EE-2DB6-09C9-47CBDAD0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EB3FD7-7D74-29E4-8C15-51731E534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839449"/>
          </a:xfrm>
          <a:solidFill>
            <a:schemeClr val="accent1">
              <a:lumMod val="75000"/>
            </a:schemeClr>
          </a:solidFill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en-GB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Motivation</a:t>
            </a:r>
            <a:endParaRPr lang="en-IN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433069-7CD6-880B-1DDD-4965AC496B13}"/>
              </a:ext>
            </a:extLst>
          </p:cNvPr>
          <p:cNvSpPr txBox="1"/>
          <p:nvPr/>
        </p:nvSpPr>
        <p:spPr>
          <a:xfrm>
            <a:off x="49231" y="977968"/>
            <a:ext cx="620166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latin typeface="Candara" panose="020E0502030303020204" pitchFamily="34" charset="0"/>
              </a:rPr>
              <a:t>GEMs have been used to study the integrated host-pathogen metabolic networks and the metabolism of pathogens during co-infections in culture media.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latin typeface="Candara" panose="020E0502030303020204" pitchFamily="34" charset="0"/>
              </a:rPr>
              <a:t>However, models that integrate a host metabolic network with those of </a:t>
            </a:r>
            <a:r>
              <a:rPr lang="en-GB" sz="3200" dirty="0">
                <a:solidFill>
                  <a:sysClr val="windowText" lastClr="000000"/>
                </a:solidFill>
                <a:latin typeface="Candara" panose="020E0502030303020204" pitchFamily="34" charset="0"/>
              </a:rPr>
              <a:t>multiple</a:t>
            </a:r>
            <a:r>
              <a:rPr lang="en-GB" sz="3200" dirty="0">
                <a:latin typeface="Candara" panose="020E0502030303020204" pitchFamily="34" charset="0"/>
              </a:rPr>
              <a:t> coinfecting pathogens in polymicrobial diseases have not been investigated.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DD1416-059D-7994-56C3-01721D438B54}"/>
              </a:ext>
            </a:extLst>
          </p:cNvPr>
          <p:cNvSpPr txBox="1"/>
          <p:nvPr/>
        </p:nvSpPr>
        <p:spPr>
          <a:xfrm>
            <a:off x="6000749" y="3293842"/>
            <a:ext cx="631444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700" dirty="0">
              <a:latin typeface="Candara" panose="020E0502030303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E1BC7A-6948-4769-1213-29EE96B87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782" y="833075"/>
            <a:ext cx="5020376" cy="5191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7A0F3F-2837-DB29-75EF-B196CAA57310}"/>
              </a:ext>
            </a:extLst>
          </p:cNvPr>
          <p:cNvSpPr txBox="1"/>
          <p:nvPr/>
        </p:nvSpPr>
        <p:spPr>
          <a:xfrm>
            <a:off x="6826286" y="6102178"/>
            <a:ext cx="50209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Candara" panose="020E0502030303020204" pitchFamily="34" charset="0"/>
              </a:rPr>
              <a:t>Factors that determine a pathogen niche</a:t>
            </a:r>
            <a:endParaRPr lang="en-IN" sz="2200" dirty="0">
              <a:latin typeface="Candara" panose="020E0502030303020204" pitchFamily="34" charset="0"/>
            </a:endParaRPr>
          </a:p>
          <a:p>
            <a:pPr algn="ctr"/>
            <a:r>
              <a:rPr lang="en-IN" sz="2200" dirty="0">
                <a:latin typeface="Candara" panose="020E0502030303020204" pitchFamily="34" charset="0"/>
              </a:rPr>
              <a:t>(adapted from [1])</a:t>
            </a:r>
            <a:endParaRPr lang="en-GB" sz="22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4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05AAA-DDA1-7ECF-5821-9767F7A7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08357D-4B72-6D19-3A8E-AF384D2C4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839449"/>
          </a:xfrm>
          <a:solidFill>
            <a:schemeClr val="accent1">
              <a:lumMod val="75000"/>
            </a:schemeClr>
          </a:solidFill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en-GB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Objectives</a:t>
            </a:r>
            <a:endParaRPr lang="en-IN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7B9DE-5939-3612-9AF7-2905FE6755F2}"/>
              </a:ext>
            </a:extLst>
          </p:cNvPr>
          <p:cNvSpPr txBox="1"/>
          <p:nvPr/>
        </p:nvSpPr>
        <p:spPr>
          <a:xfrm>
            <a:off x="49231" y="977968"/>
            <a:ext cx="620166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latin typeface="Candara" panose="020E0502030303020204" pitchFamily="34" charset="0"/>
              </a:rPr>
              <a:t>Construct an integrated model of the metabolic networks of the small intestine epithelial cell, </a:t>
            </a:r>
            <a:r>
              <a:rPr lang="en-GB" sz="3200" i="1" dirty="0">
                <a:latin typeface="Candara" panose="020E0502030303020204" pitchFamily="34" charset="0"/>
              </a:rPr>
              <a:t>V. cholerae, </a:t>
            </a:r>
            <a:r>
              <a:rPr lang="en-GB" sz="3200" dirty="0">
                <a:latin typeface="Candara" panose="020E0502030303020204" pitchFamily="34" charset="0"/>
              </a:rPr>
              <a:t>and </a:t>
            </a:r>
            <a:r>
              <a:rPr lang="en-GB" sz="3200" i="1" dirty="0">
                <a:latin typeface="Candara" panose="020E0502030303020204" pitchFamily="34" charset="0"/>
              </a:rPr>
              <a:t>E. coli</a:t>
            </a:r>
            <a:r>
              <a:rPr lang="en-GB" sz="3200" dirty="0">
                <a:latin typeface="Candara" panose="020E0502030303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latin typeface="Candara" panose="020E0502030303020204" pitchFamily="34" charset="0"/>
              </a:rPr>
              <a:t>Define a suitable extracellular medium and objective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latin typeface="Candara" panose="020E0502030303020204" pitchFamily="34" charset="0"/>
              </a:rPr>
              <a:t>Validate the model using known experimental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latin typeface="Candara" panose="020E0502030303020204" pitchFamily="34" charset="0"/>
              </a:rPr>
              <a:t>Generate testable hypotheses about the pathology of polymicrobial diseases.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2CE2B5-F51E-2736-C99A-4BA408059CBE}"/>
              </a:ext>
            </a:extLst>
          </p:cNvPr>
          <p:cNvSpPr txBox="1"/>
          <p:nvPr/>
        </p:nvSpPr>
        <p:spPr>
          <a:xfrm>
            <a:off x="6000749" y="3293842"/>
            <a:ext cx="631444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700" dirty="0">
              <a:latin typeface="Candara" panose="020E05020303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A648E-B85F-E43C-51D9-D8AA0F6B046A}"/>
              </a:ext>
            </a:extLst>
          </p:cNvPr>
          <p:cNvSpPr txBox="1"/>
          <p:nvPr/>
        </p:nvSpPr>
        <p:spPr>
          <a:xfrm>
            <a:off x="6826286" y="6102178"/>
            <a:ext cx="50209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Candara" panose="020E0502030303020204" pitchFamily="34" charset="0"/>
              </a:rPr>
              <a:t>Factors that determine a pathogen niche</a:t>
            </a:r>
            <a:endParaRPr lang="en-IN" sz="2200" dirty="0">
              <a:latin typeface="Candara" panose="020E0502030303020204" pitchFamily="34" charset="0"/>
            </a:endParaRPr>
          </a:p>
          <a:p>
            <a:pPr algn="ctr"/>
            <a:r>
              <a:rPr lang="en-IN" sz="2200" dirty="0">
                <a:latin typeface="Candara" panose="020E0502030303020204" pitchFamily="34" charset="0"/>
              </a:rPr>
              <a:t>(adapted from [1])</a:t>
            </a:r>
            <a:endParaRPr lang="en-GB" sz="2200" dirty="0">
              <a:latin typeface="Candara" panose="020E0502030303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B2A2F2-616A-2CF4-DDD5-8CA84FE93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90" y="839449"/>
            <a:ext cx="4873902" cy="526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5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79C9E-4C74-3038-ECEF-95C298234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483226-5029-FA7A-79FD-DE8CB9447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839449"/>
          </a:xfrm>
          <a:solidFill>
            <a:schemeClr val="accent1">
              <a:lumMod val="75000"/>
            </a:schemeClr>
          </a:solidFill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en-GB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Construction of the Integrated Model</a:t>
            </a:r>
            <a:endParaRPr lang="en-IN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64218-54A6-51E1-329B-85B0891BEC90}"/>
              </a:ext>
            </a:extLst>
          </p:cNvPr>
          <p:cNvSpPr txBox="1"/>
          <p:nvPr/>
        </p:nvSpPr>
        <p:spPr>
          <a:xfrm>
            <a:off x="49231" y="977968"/>
            <a:ext cx="748977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000" dirty="0">
                <a:latin typeface="Candara" panose="020E0502030303020204" pitchFamily="34" charset="0"/>
              </a:rPr>
              <a:t>Unique labels for metabolites and reactions belonging to different cell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000" dirty="0">
                <a:latin typeface="Candara" panose="020E0502030303020204" pitchFamily="34" charset="0"/>
              </a:rPr>
              <a:t>Create a shared pool of extracellular metabolites available to all cell types from the extracellular lumen.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000" dirty="0">
                <a:latin typeface="Candara" panose="020E0502030303020204" pitchFamily="34" charset="0"/>
              </a:rPr>
              <a:t>Establish transport reactions between the shared pool and different cell types: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000" dirty="0">
                <a:latin typeface="Candara" panose="020E0502030303020204" pitchFamily="34" charset="0"/>
              </a:rPr>
              <a:t>Shared pool on the apical side to the cytoplasm of enterocytes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000" dirty="0">
                <a:latin typeface="Candara" panose="020E0502030303020204" pitchFamily="34" charset="0"/>
              </a:rPr>
              <a:t>Cytoplasm of enterocytes to the bloodstream on the basal side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8B3C4E-D204-BD4C-933B-F26E1A7A3027}"/>
              </a:ext>
            </a:extLst>
          </p:cNvPr>
          <p:cNvSpPr txBox="1"/>
          <p:nvPr/>
        </p:nvSpPr>
        <p:spPr>
          <a:xfrm>
            <a:off x="6000749" y="3293842"/>
            <a:ext cx="631444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700" dirty="0">
              <a:latin typeface="Candara" panose="020E0502030303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44A29A-3639-3406-65CB-328B38FFD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93"/>
          <a:stretch>
            <a:fillRect/>
          </a:stretch>
        </p:blipFill>
        <p:spPr>
          <a:xfrm>
            <a:off x="7651778" y="865683"/>
            <a:ext cx="4540222" cy="600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61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30C26-5F79-C86D-65AB-C1A35A659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3409C7D-3DB6-587F-E494-B32C864BA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839449"/>
          </a:xfrm>
          <a:solidFill>
            <a:schemeClr val="accent1">
              <a:lumMod val="75000"/>
            </a:schemeClr>
          </a:solidFill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en-GB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Construction of the Integrated Model</a:t>
            </a:r>
            <a:endParaRPr lang="en-IN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DD56A8-DBD2-BCEF-5BB9-25CC858025D5}"/>
              </a:ext>
            </a:extLst>
          </p:cNvPr>
          <p:cNvSpPr txBox="1"/>
          <p:nvPr/>
        </p:nvSpPr>
        <p:spPr>
          <a:xfrm>
            <a:off x="6000749" y="3293842"/>
            <a:ext cx="631444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700" dirty="0">
              <a:latin typeface="Candara" panose="020E05020303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00130-2F7A-63D2-4BDA-9E3878E9A208}"/>
              </a:ext>
            </a:extLst>
          </p:cNvPr>
          <p:cNvSpPr txBox="1"/>
          <p:nvPr/>
        </p:nvSpPr>
        <p:spPr>
          <a:xfrm>
            <a:off x="49231" y="977968"/>
            <a:ext cx="731040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Candara" panose="020E0502030303020204" pitchFamily="34" charset="0"/>
              </a:rPr>
              <a:t>Establish transport reactions between the shared pool and different cell types: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Candara" panose="020E0502030303020204" pitchFamily="34" charset="0"/>
              </a:rPr>
              <a:t>From the shared pool of metabolites to the periplasm of a given pathogen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Candara" panose="020E0502030303020204" pitchFamily="34" charset="0"/>
              </a:rPr>
              <a:t>From the periplasm to the cytoplasm of the given pathogen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Candara" panose="020E0502030303020204" pitchFamily="34" charset="0"/>
              </a:rPr>
              <a:t>Introduce exchange reactions for extracellular metabolites from the enterocyte model on the apical and basal sides.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Candara" panose="020E0502030303020204" pitchFamily="34" charset="0"/>
              </a:rPr>
              <a:t>Introduce “Dilution” reactions for extracellular metabolites secreted only by the pathogens.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0DD4CC-D3BB-64C4-9736-9FA9F80E4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31" t="16255"/>
          <a:stretch>
            <a:fillRect/>
          </a:stretch>
        </p:blipFill>
        <p:spPr>
          <a:xfrm>
            <a:off x="7532063" y="1305548"/>
            <a:ext cx="4610706" cy="39765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031C6B-C657-F4FD-A535-E685814CC075}"/>
              </a:ext>
            </a:extLst>
          </p:cNvPr>
          <p:cNvSpPr txBox="1"/>
          <p:nvPr/>
        </p:nvSpPr>
        <p:spPr>
          <a:xfrm>
            <a:off x="8025990" y="5636079"/>
            <a:ext cx="36228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ndara" panose="020E0502030303020204" pitchFamily="34" charset="0"/>
              </a:rPr>
              <a:t>Cell Wall of Gram-Negative Bacteria</a:t>
            </a:r>
          </a:p>
          <a:p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963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6365F-58AF-1F86-DDEF-7A06D1797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BFCF65B-FAEB-0D8A-2798-96320586D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839449"/>
          </a:xfrm>
          <a:solidFill>
            <a:schemeClr val="accent1">
              <a:lumMod val="75000"/>
            </a:schemeClr>
          </a:solidFill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en-GB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Objective Function</a:t>
            </a:r>
            <a:endParaRPr lang="en-IN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50D74B-F082-362C-DF7B-8128CFFF5C0C}"/>
              </a:ext>
            </a:extLst>
          </p:cNvPr>
          <p:cNvSpPr txBox="1"/>
          <p:nvPr/>
        </p:nvSpPr>
        <p:spPr>
          <a:xfrm>
            <a:off x="6000749" y="3293842"/>
            <a:ext cx="631444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700" dirty="0">
              <a:latin typeface="Candara" panose="020E05020303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EE2CE-67C1-0753-63F3-BD3BF6A9E4F7}"/>
              </a:ext>
            </a:extLst>
          </p:cNvPr>
          <p:cNvSpPr txBox="1"/>
          <p:nvPr/>
        </p:nvSpPr>
        <p:spPr>
          <a:xfrm>
            <a:off x="49230" y="977968"/>
            <a:ext cx="12142769" cy="589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Objective functions in individual models: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900" dirty="0">
                <a:latin typeface="Candara" panose="020E0502030303020204" pitchFamily="34" charset="0"/>
              </a:rPr>
              <a:t>ATP Maintenance in enterocytes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900" dirty="0">
                <a:latin typeface="Candara" panose="020E0502030303020204" pitchFamily="34" charset="0"/>
              </a:rPr>
              <a:t>Biomass reactions in pathogens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Modified objective function in the integrated model: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900" dirty="0">
                <a:latin typeface="Candara" panose="020E0502030303020204" pitchFamily="34" charset="0"/>
              </a:rPr>
              <a:t>Constrain the lower bound of the ATP Maintenance reaction in enterocytes to </a:t>
            </a:r>
            <a:r>
              <a:rPr lang="el-GR" sz="2900" dirty="0">
                <a:latin typeface="Candara" panose="020E0502030303020204" pitchFamily="34" charset="0"/>
              </a:rPr>
              <a:t>α</a:t>
            </a:r>
            <a:r>
              <a:rPr lang="en-GB" sz="2900" dirty="0">
                <a:latin typeface="Candara" panose="020E0502030303020204" pitchFamily="34" charset="0"/>
              </a:rPr>
              <a:t> times its maximum value (0 &lt; </a:t>
            </a:r>
            <a:r>
              <a:rPr lang="el-GR" sz="2900" dirty="0">
                <a:latin typeface="Candara" panose="020E0502030303020204" pitchFamily="34" charset="0"/>
              </a:rPr>
              <a:t>α</a:t>
            </a:r>
            <a:r>
              <a:rPr lang="en-GB" sz="2900" dirty="0">
                <a:latin typeface="Candara" panose="020E0502030303020204" pitchFamily="34" charset="0"/>
              </a:rPr>
              <a:t> &lt; 1)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900" dirty="0">
                <a:latin typeface="Candara" panose="020E0502030303020204" pitchFamily="34" charset="0"/>
              </a:rPr>
              <a:t>Set the objective function equal to a sum of E. coli and V. cholerae biomass reactions.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This is known as a ‘Lexicographic Optimisation’ formulation: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900" dirty="0">
                <a:latin typeface="Candara" panose="020E0502030303020204" pitchFamily="34" charset="0"/>
              </a:rPr>
              <a:t>Prioritise the host cell objective function over the biomass reactions of the pathogens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900" dirty="0">
                <a:latin typeface="Candara" panose="020E0502030303020204" pitchFamily="34" charset="0"/>
              </a:rPr>
              <a:t>Polymicrobial pathology is not driven by host cell death, but by interference with signalling pathways.</a:t>
            </a:r>
          </a:p>
        </p:txBody>
      </p:sp>
    </p:spTree>
    <p:extLst>
      <p:ext uri="{BB962C8B-B14F-4D97-AF65-F5344CB8AC3E}">
        <p14:creationId xmlns:p14="http://schemas.microsoft.com/office/powerpoint/2010/main" val="15978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B1A4-FAD4-0862-349B-81C4637D6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CE2D00-4040-D664-EA82-EAF2120B51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839449"/>
          </a:xfrm>
          <a:solidFill>
            <a:schemeClr val="accent1">
              <a:lumMod val="75000"/>
            </a:schemeClr>
          </a:solidFill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en-GB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Results</a:t>
            </a:r>
            <a:endParaRPr lang="en-IN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CF9F85-D281-DBB8-7F06-B70D9A7BA976}"/>
              </a:ext>
            </a:extLst>
          </p:cNvPr>
          <p:cNvSpPr txBox="1"/>
          <p:nvPr/>
        </p:nvSpPr>
        <p:spPr>
          <a:xfrm>
            <a:off x="6000749" y="3293842"/>
            <a:ext cx="631444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700" dirty="0">
              <a:latin typeface="Candara" panose="020E05020303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5F75BE-D4A2-B8DB-442F-C57D161C979B}"/>
              </a:ext>
            </a:extLst>
          </p:cNvPr>
          <p:cNvSpPr txBox="1"/>
          <p:nvPr/>
        </p:nvSpPr>
        <p:spPr>
          <a:xfrm>
            <a:off x="49230" y="977968"/>
            <a:ext cx="12142769" cy="6786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Comparison between: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900" dirty="0">
                <a:latin typeface="Candara" panose="020E0502030303020204" pitchFamily="34" charset="0"/>
              </a:rPr>
              <a:t>Case 1: Set the objective function equal to the ATP maintenance reaction in enterocytes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900" dirty="0">
                <a:latin typeface="Candara" panose="020E0502030303020204" pitchFamily="34" charset="0"/>
              </a:rPr>
              <a:t>Case 2: Set the objective function equal to a sum of the biomass reactions of the two pathogens, and constrain the ATP maintenance reaction in enterocytes to a fraction of its maximum value.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The following reactions saw a substantial change in their fluxes: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900" dirty="0">
                <a:latin typeface="Candara" panose="020E0502030303020204" pitchFamily="34" charset="0"/>
              </a:rPr>
              <a:t>Sharp decrease in the enterocyte ATP maintenance reaction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900" dirty="0">
                <a:latin typeface="Candara" panose="020E0502030303020204" pitchFamily="34" charset="0"/>
              </a:rPr>
              <a:t>Increased flux through central carbon metabolism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900" dirty="0">
                <a:latin typeface="Candara" panose="020E0502030303020204" pitchFamily="34" charset="0"/>
              </a:rPr>
              <a:t>Increased alanine secretion by ETEC, along with increased alanine uptake by </a:t>
            </a:r>
            <a:r>
              <a:rPr lang="en-GB" sz="2900" i="1" dirty="0">
                <a:latin typeface="Candara" panose="020E0502030303020204" pitchFamily="34" charset="0"/>
              </a:rPr>
              <a:t>V. cholerae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900" dirty="0">
                <a:latin typeface="Candara" panose="020E0502030303020204" pitchFamily="34" charset="0"/>
              </a:rPr>
              <a:t>Increased serine secretion by VC, along with increased serine uptake by </a:t>
            </a:r>
            <a:r>
              <a:rPr lang="en-GB" sz="2900" i="1" dirty="0">
                <a:latin typeface="Candara" panose="020E0502030303020204" pitchFamily="34" charset="0"/>
              </a:rPr>
              <a:t>V. cholerae.</a:t>
            </a:r>
          </a:p>
          <a:p>
            <a:pPr marL="514350" indent="-514350">
              <a:buFont typeface="+mj-lt"/>
              <a:buAutoNum type="arabicPeriod"/>
            </a:pPr>
            <a:endParaRPr lang="en-GB" sz="2900" dirty="0">
              <a:latin typeface="Candara" panose="020E050203030302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GB" sz="29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992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B555F-B069-4773-27C5-90DF1854B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B0E96C-B21A-AB4C-8D0E-71432C312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839449"/>
          </a:xfrm>
          <a:solidFill>
            <a:schemeClr val="accent1">
              <a:lumMod val="75000"/>
            </a:schemeClr>
          </a:solidFill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en-GB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Results</a:t>
            </a:r>
            <a:endParaRPr lang="en-IN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4057E8-906E-7A55-D012-304A1ACFC286}"/>
              </a:ext>
            </a:extLst>
          </p:cNvPr>
          <p:cNvSpPr txBox="1"/>
          <p:nvPr/>
        </p:nvSpPr>
        <p:spPr>
          <a:xfrm>
            <a:off x="6000749" y="3293842"/>
            <a:ext cx="631444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700" dirty="0">
              <a:latin typeface="Candara" panose="020E05020303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1511D0-C880-B1D0-7113-CC730C14E3D4}"/>
              </a:ext>
            </a:extLst>
          </p:cNvPr>
          <p:cNvSpPr txBox="1"/>
          <p:nvPr/>
        </p:nvSpPr>
        <p:spPr>
          <a:xfrm>
            <a:off x="49230" y="977968"/>
            <a:ext cx="1214276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Increased flux through the following reactions in </a:t>
            </a:r>
            <a:r>
              <a:rPr lang="en-GB" sz="2900" i="1" dirty="0">
                <a:latin typeface="Candara" panose="020E0502030303020204" pitchFamily="34" charset="0"/>
              </a:rPr>
              <a:t>V. cholerae</a:t>
            </a:r>
            <a:r>
              <a:rPr lang="en-GB" sz="2900" dirty="0">
                <a:latin typeface="Candara" panose="020E0502030303020204" pitchFamily="34" charset="0"/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900" dirty="0">
                <a:latin typeface="Candara" panose="020E0502030303020204" pitchFamily="34" charset="0"/>
              </a:rPr>
              <a:t>Transport of Fe (III) from the shared pool of metabolites to the periplasm and the cytoplasm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900" dirty="0">
                <a:latin typeface="Candara" panose="020E0502030303020204" pitchFamily="34" charset="0"/>
              </a:rPr>
              <a:t>Transport of Fe (II) from the cytoplasm to the extracellular milieu.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GB" sz="2900" dirty="0">
              <a:latin typeface="Candara" panose="020E050203030302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GB" sz="2900" dirty="0">
              <a:latin typeface="Candara" panose="020E0502030303020204" pitchFamily="34" charset="0"/>
            </a:endParaRPr>
          </a:p>
        </p:txBody>
      </p:sp>
      <p:pic>
        <p:nvPicPr>
          <p:cNvPr id="3076" name="Picture 4" descr="Fig. 1">
            <a:extLst>
              <a:ext uri="{FF2B5EF4-FFF2-40B4-BE49-F238E27FC236}">
                <a16:creationId xmlns:a16="http://schemas.microsoft.com/office/drawing/2014/main" id="{580261D3-19B0-43D3-17DC-91171EC7B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607" y="2824705"/>
            <a:ext cx="7342767" cy="324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289F92-0B2E-644E-0D8C-F3BBFA790042}"/>
              </a:ext>
            </a:extLst>
          </p:cNvPr>
          <p:cNvSpPr txBox="1"/>
          <p:nvPr/>
        </p:nvSpPr>
        <p:spPr>
          <a:xfrm>
            <a:off x="2188178" y="6309320"/>
            <a:ext cx="8759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ndara" panose="020E0502030303020204" pitchFamily="34" charset="0"/>
              </a:rPr>
              <a:t>Role of Siderophores in Iron capture by bacteria, adapted from [3]</a:t>
            </a:r>
            <a:endParaRPr lang="en-IN" sz="24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489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80FF5-63AE-F9FB-0591-8D9303125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2D9EA2-E81B-DE2F-56AC-9C3A6AA29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839449"/>
          </a:xfrm>
          <a:solidFill>
            <a:schemeClr val="accent1">
              <a:lumMod val="75000"/>
            </a:schemeClr>
          </a:solidFill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en-GB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Results</a:t>
            </a:r>
            <a:endParaRPr lang="en-IN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413BCD-744D-6880-1F68-200E4034485D}"/>
              </a:ext>
            </a:extLst>
          </p:cNvPr>
          <p:cNvSpPr txBox="1"/>
          <p:nvPr/>
        </p:nvSpPr>
        <p:spPr>
          <a:xfrm>
            <a:off x="6000749" y="3293842"/>
            <a:ext cx="631444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700" dirty="0">
              <a:latin typeface="Candara" panose="020E05020303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320789-5642-6850-CBE9-8ADDC8C85AF8}"/>
              </a:ext>
            </a:extLst>
          </p:cNvPr>
          <p:cNvSpPr txBox="1"/>
          <p:nvPr/>
        </p:nvSpPr>
        <p:spPr>
          <a:xfrm>
            <a:off x="49230" y="977968"/>
            <a:ext cx="12142769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V. cholerae biomass flux consistently reported to be lower than that of E. coli when the objective function was expressed as a weighted sum of the two biomass reactions.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This is contrary to previous reports from co-cultures of the two micro-organisms, where E. coli growth decreased in co-cultures as compared to mono-cultures.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V. cholerae toxins, secreted through the Type 6 Secretion System, known to be toxic for E. coli and S. typhirium, other enteric pathogens.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Potential involvement of non-metabolic factors in regulating the growth of individual pathogens as well as that of the host cell.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GB" sz="29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978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9667B-0FC3-738E-1417-DCDDBDB67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2032D7-1230-E0D9-15BC-76111F737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839449"/>
          </a:xfrm>
          <a:solidFill>
            <a:schemeClr val="accent1">
              <a:lumMod val="75000"/>
            </a:schemeClr>
          </a:solidFill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en-GB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rPr>
              <a:t>Challenges</a:t>
            </a:r>
            <a:endParaRPr lang="en-IN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F5F0A8-3214-14B9-F8A1-400178818090}"/>
              </a:ext>
            </a:extLst>
          </p:cNvPr>
          <p:cNvSpPr txBox="1"/>
          <p:nvPr/>
        </p:nvSpPr>
        <p:spPr>
          <a:xfrm>
            <a:off x="6000749" y="3293842"/>
            <a:ext cx="631444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700" dirty="0">
              <a:latin typeface="Candara" panose="020E05020303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4F02B-9650-7155-72F9-5AA91638AADB}"/>
              </a:ext>
            </a:extLst>
          </p:cNvPr>
          <p:cNvSpPr txBox="1"/>
          <p:nvPr/>
        </p:nvSpPr>
        <p:spPr>
          <a:xfrm>
            <a:off x="49230" y="977968"/>
            <a:ext cx="1214276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Several published GEMs do not adhere to SBML guidelines (e.g., mass or change balance)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Full suite of interdependence tests could not be carried out due to missing information (e.g., missing gene labels or annotations).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Construction of a suitable objective function.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Flux bounds for exchange reactions of shared metabolites were imported from the enterocyte model. However, the flux bounds for newly introduced ‘transport’ and ‘dilution’ reactions were arbitrarily set.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Lack of omics data to constrain flux bounds in order to more accurately reflect the ‘ground truth’ – recent report of a triple-RNA seq. study [3]</a:t>
            </a:r>
          </a:p>
        </p:txBody>
      </p:sp>
    </p:spTree>
    <p:extLst>
      <p:ext uri="{BB962C8B-B14F-4D97-AF65-F5344CB8AC3E}">
        <p14:creationId xmlns:p14="http://schemas.microsoft.com/office/powerpoint/2010/main" val="2494896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50989-F598-0F5A-72BB-03214F7E1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CBCE96-FCD8-2E45-E875-2BC62F693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839449"/>
          </a:xfrm>
          <a:solidFill>
            <a:schemeClr val="accent1">
              <a:lumMod val="75000"/>
            </a:schemeClr>
          </a:solidFill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en-GB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rPr>
              <a:t>Conclusion</a:t>
            </a:r>
            <a:endParaRPr lang="en-IN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C4CA24-1F8A-782E-C266-59C3C4E4DFDC}"/>
              </a:ext>
            </a:extLst>
          </p:cNvPr>
          <p:cNvSpPr txBox="1"/>
          <p:nvPr/>
        </p:nvSpPr>
        <p:spPr>
          <a:xfrm>
            <a:off x="6000749" y="3293842"/>
            <a:ext cx="631444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700" dirty="0">
              <a:latin typeface="Candara" panose="020E05020303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58603E-89AF-C659-CB20-95A1D5DD1345}"/>
              </a:ext>
            </a:extLst>
          </p:cNvPr>
          <p:cNvSpPr txBox="1"/>
          <p:nvPr/>
        </p:nvSpPr>
        <p:spPr>
          <a:xfrm>
            <a:off x="49230" y="977968"/>
            <a:ext cx="12142769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An integrated model comprising of murine enterocytes, Enterotoxic E.coli and Vibrio cholerae was constructed.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Modifications such as the creation of a shared pool of metabolites, and the introduction of new transport and exchange reactions were implemented to ensure ‘cross-talk’ between the different cell types.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A ‘lexicographic’ objective function was devised to constrain the reaction fluxes.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900" dirty="0">
                <a:latin typeface="Candara" panose="020E0502030303020204" pitchFamily="34" charset="0"/>
              </a:rPr>
              <a:t>The results of FBA were validated against known experimental trends and were also used to generate certain testable hypotheses.</a:t>
            </a:r>
          </a:p>
        </p:txBody>
      </p:sp>
    </p:spTree>
    <p:extLst>
      <p:ext uri="{BB962C8B-B14F-4D97-AF65-F5344CB8AC3E}">
        <p14:creationId xmlns:p14="http://schemas.microsoft.com/office/powerpoint/2010/main" val="1581018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4FE02-21ED-24EB-0175-62E22E3B5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63D04C-CF99-BB08-73B1-0B344B42B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839449"/>
          </a:xfrm>
          <a:solidFill>
            <a:schemeClr val="accent1">
              <a:lumMod val="75000"/>
            </a:schemeClr>
          </a:solidFill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en-GB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rPr>
              <a:t>References</a:t>
            </a:r>
            <a:endParaRPr lang="en-IN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DB46EA-61D4-B7E0-CA47-F268F611ACF7}"/>
              </a:ext>
            </a:extLst>
          </p:cNvPr>
          <p:cNvSpPr txBox="1"/>
          <p:nvPr/>
        </p:nvSpPr>
        <p:spPr>
          <a:xfrm>
            <a:off x="6000749" y="3293842"/>
            <a:ext cx="631444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700" dirty="0">
              <a:latin typeface="Candara" panose="020E05020303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7EFFD1-E1FD-D043-B4DE-D7C85D8938B3}"/>
              </a:ext>
            </a:extLst>
          </p:cNvPr>
          <p:cNvSpPr txBox="1"/>
          <p:nvPr/>
        </p:nvSpPr>
        <p:spPr>
          <a:xfrm>
            <a:off x="49230" y="977968"/>
            <a:ext cx="12142769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900" dirty="0">
                <a:latin typeface="Candara" panose="020E0502030303020204" pitchFamily="34" charset="0"/>
              </a:rPr>
              <a:t>Stacy, A., McNally, L., Darch, S. et al. The biogeography of polymicrobial infection. Nat Rev Microbiol 14, 93–105 (2016). https://doi.org/10.1038/nrmicro.2015.8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900" dirty="0" err="1">
                <a:latin typeface="Candara" panose="020E0502030303020204" pitchFamily="34" charset="0"/>
              </a:rPr>
              <a:t>Tafazzoli</a:t>
            </a:r>
            <a:r>
              <a:rPr lang="en-GB" sz="2900" dirty="0">
                <a:latin typeface="Candara" panose="020E0502030303020204" pitchFamily="34" charset="0"/>
              </a:rPr>
              <a:t>, K., Ghavami, M. &amp; Khosravi-Darani, K. Investigation of impact of siderophore and process variables on production of iron enriched Saccharomyces </a:t>
            </a:r>
            <a:r>
              <a:rPr lang="en-GB" sz="2900" dirty="0" err="1">
                <a:latin typeface="Candara" panose="020E0502030303020204" pitchFamily="34" charset="0"/>
              </a:rPr>
              <a:t>boulardii</a:t>
            </a:r>
            <a:r>
              <a:rPr lang="en-GB" sz="2900" dirty="0">
                <a:latin typeface="Candara" panose="020E0502030303020204" pitchFamily="34" charset="0"/>
              </a:rPr>
              <a:t> by Plackett–Burman design. Sci Rep 14, 22813 (2024). https://doi.org/10.1038/s41598-024-70467-7</a:t>
            </a:r>
          </a:p>
        </p:txBody>
      </p:sp>
    </p:spTree>
    <p:extLst>
      <p:ext uri="{BB962C8B-B14F-4D97-AF65-F5344CB8AC3E}">
        <p14:creationId xmlns:p14="http://schemas.microsoft.com/office/powerpoint/2010/main" val="3861947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1075</Words>
  <Application>Microsoft Office PowerPoint</Application>
  <PresentationFormat>Widescreen</PresentationFormat>
  <Paragraphs>79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Candara</vt:lpstr>
      <vt:lpstr>Office Theme</vt:lpstr>
      <vt:lpstr> Constraint-based modelling for the study of Polymicrobial Infections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Krushanu Patki</dc:creator>
  <cp:lastModifiedBy>Krushanu Patki</cp:lastModifiedBy>
  <cp:revision>4</cp:revision>
  <dcterms:created xsi:type="dcterms:W3CDTF">2026-04-24T22:40:58Z</dcterms:created>
  <dcterms:modified xsi:type="dcterms:W3CDTF">2026-04-25T04:03:19Z</dcterms:modified>
</cp:coreProperties>
</file>